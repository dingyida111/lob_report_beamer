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 <Relationship Id="rId2" Type="http://schemas.openxmlformats.org/officeDocument/2006/relationships/slide" Target="slides/slide2.xml"/> <Relationship Id="rId3" Type="http://schemas.openxmlformats.org/officeDocument/2006/relationships/slide" Target="slides/slide3.xml"/> <Relationship Id="rId4" Type="http://schemas.openxmlformats.org/officeDocument/2006/relationships/slide" Target="slides/slide4.xml"/> <Relationship Id="rId5" Type="http://schemas.openxmlformats.org/officeDocument/2006/relationships/slide" Target="slides/slide5.xml"/> <Relationship Id="rId6" Type="http://schemas.openxmlformats.org/officeDocument/2006/relationships/slide" Target="slides/slide6.xml"/> <Relationship Id="rId7" Type="http://schemas.openxmlformats.org/officeDocument/2006/relationships/slideMaster" Target="slideMasters/slideMaster1.xml"/> <Relationship Id="rId8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3" name="Shape 3"/>
          <p:cNvSpPr/>
          <p:nvPr/>
        </p:nvSpPr>
        <p:spPr>
          <a:xfrm>
            <a:off x="914400" y="2084832"/>
            <a:ext cx="103601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>Liquidity-Aware Smart Execution</a:t>
            </a:r>
          </a:p>
          <a:p>
            <a:pPr algn="ctr"/>
            <a:r>
              <a:rPr lang="en-US" sz="2400" b="1">
                <a:solidFill>
                  <a:srgbClr val="FFFFFF"/>
                </a:solidFill>
              </a:rPr>
              <a:t>for Desk Efficiency</a:t>
            </a:r>
          </a:p>
        </p:txBody>
      </p:sp>
      <p:sp>
        <p:nvSpPr>
          <p:cNvPr id="4" name="Shape 4"/>
          <p:cNvSpPr/>
          <p:nvPr/>
        </p:nvSpPr>
        <p:spPr>
          <a:xfrm>
            <a:off x="914400" y="3429000"/>
            <a:ext cx="103601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Microstructure Signals Across Manual Trading and Peak Algo</a:t>
            </a:r>
          </a:p>
        </p:txBody>
      </p:sp>
      <p:sp>
        <p:nvSpPr>
          <p:cNvPr id="5" name="Shape 5"/>
          <p:cNvSpPr/>
          <p:nvPr/>
        </p:nvSpPr>
        <p:spPr>
          <a:xfrm>
            <a:off x="914400" y="4160520"/>
            <a:ext cx="103601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ctr"/>
            <a:r>
              <a:rPr lang="en-US" sz="1100">
                <a:solidFill>
                  <a:srgbClr val="FFFFFF"/>
                </a:solidFill>
              </a:rPr>
              <a:t>Yida Ding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Shape 2"/>
          <p:cNvSpPr/>
          <p:nvPr/>
        </p:nvSpPr>
        <p:spPr>
          <a:xfrm>
            <a:off x="713232" y="384048"/>
            <a:ext cx="10424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l"/>
            <a:r>
              <a:rPr lang="en-US" sz="2200" b="1">
                <a:solidFill>
                  <a:srgbClr val="F35D00"/>
                </a:solidFill>
              </a:rPr>
              <a:t>Smart Execution as a Desk Efficiency Layer</a:t>
            </a:r>
          </a:p>
        </p:txBody>
      </p:sp>
      <p:sp>
        <p:nvSpPr>
          <p:cNvPr id="3" name="Shape 3"/>
          <p:cNvSpPr/>
          <p:nvPr/>
        </p:nvSpPr>
        <p:spPr>
          <a:xfrm>
            <a:off x="713232" y="950976"/>
            <a:ext cx="10378440" cy="32004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4" name="Shape 4"/>
          <p:cNvSpPr/>
          <p:nvPr/>
        </p:nvSpPr>
        <p:spPr>
          <a:xfrm>
            <a:off x="530352" y="557784"/>
            <a:ext cx="109728" cy="109728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5" name="Shape 5"/>
          <p:cNvSpPr/>
          <p:nvPr/>
        </p:nvSpPr>
        <p:spPr>
          <a:xfrm>
            <a:off x="1417320" y="1234440"/>
            <a:ext cx="20116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900" b="1">
                <a:solidFill>
                  <a:srgbClr val="1C4C84"/>
                </a:solidFill>
              </a:rPr>
              <a:t>Trading paths</a:t>
            </a:r>
          </a:p>
        </p:txBody>
      </p:sp>
      <p:sp>
        <p:nvSpPr>
          <p:cNvPr id="6" name="Shape 6"/>
          <p:cNvSpPr/>
          <p:nvPr/>
        </p:nvSpPr>
        <p:spPr>
          <a:xfrm>
            <a:off x="960120" y="1691640"/>
            <a:ext cx="2514600" cy="658368"/>
          </a:xfrm>
          <a:prstGeom prst="roundRect">
            <a:avLst/>
          </a:prstGeom>
          <a:solidFill>
            <a:srgbClr val="E2EFFF"/>
          </a:solidFill>
          <a:ln w="9525">
            <a:solidFill>
              <a:srgbClr val="1C4C84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19">
                <a:solidFill>
                  <a:srgbClr val="222222"/>
                </a:solidFill>
              </a:rPr>
              <a:t>Manual desk</a:t>
            </a:r>
          </a:p>
          <a:p>
            <a:pPr algn="ctr"/>
            <a:r>
              <a:rPr lang="en-US" sz="919">
                <a:solidFill>
                  <a:srgbClr val="222222"/>
                </a:solidFill>
              </a:rPr>
              <a:t>workflow</a:t>
            </a:r>
          </a:p>
        </p:txBody>
      </p:sp>
      <p:sp>
        <p:nvSpPr>
          <p:cNvPr id="7" name="Shape 7"/>
          <p:cNvSpPr/>
          <p:nvPr/>
        </p:nvSpPr>
        <p:spPr>
          <a:xfrm>
            <a:off x="960120" y="2834640"/>
            <a:ext cx="2514600" cy="658368"/>
          </a:xfrm>
          <a:prstGeom prst="roundRect">
            <a:avLst/>
          </a:prstGeom>
          <a:solidFill>
            <a:srgbClr val="EFE9F9"/>
          </a:solidFill>
          <a:ln w="9525">
            <a:solidFill>
              <a:srgbClr val="60478F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19">
                <a:solidFill>
                  <a:srgbClr val="222222"/>
                </a:solidFill>
              </a:rPr>
              <a:t>Peak Algo</a:t>
            </a:r>
          </a:p>
          <a:p>
            <a:pPr algn="ctr"/>
            <a:r>
              <a:rPr lang="en-US" sz="919">
                <a:solidFill>
                  <a:srgbClr val="222222"/>
                </a:solidFill>
              </a:rPr>
              <a:t>workflow</a:t>
            </a:r>
          </a:p>
        </p:txBody>
      </p:sp>
      <p:sp>
        <p:nvSpPr>
          <p:cNvPr id="8" name="Shape 8"/>
          <p:cNvSpPr/>
          <p:nvPr/>
        </p:nvSpPr>
        <p:spPr>
          <a:xfrm>
            <a:off x="4251960" y="1234440"/>
            <a:ext cx="201168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900" b="1">
                <a:solidFill>
                  <a:srgbClr val="B84300"/>
                </a:solidFill>
              </a:rPr>
              <a:t>Smart execution control</a:t>
            </a:r>
          </a:p>
        </p:txBody>
      </p:sp>
      <p:sp>
        <p:nvSpPr>
          <p:cNvPr id="9" name="Shape 9"/>
          <p:cNvSpPr/>
          <p:nvPr/>
        </p:nvSpPr>
        <p:spPr>
          <a:xfrm>
            <a:off x="4251960" y="1508760"/>
            <a:ext cx="242316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4C84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19">
                <a:solidFill>
                  <a:srgbClr val="222222"/>
                </a:solidFill>
              </a:rPr>
              <a:t>LOB state</a:t>
            </a:r>
          </a:p>
        </p:txBody>
      </p:sp>
      <p:sp>
        <p:nvSpPr>
          <p:cNvPr id="10" name="Shape 10"/>
          <p:cNvSpPr/>
          <p:nvPr/>
        </p:nvSpPr>
        <p:spPr>
          <a:xfrm>
            <a:off x="3886200" y="2176272"/>
            <a:ext cx="3063240" cy="822960"/>
          </a:xfrm>
          <a:prstGeom prst="roundRect">
            <a:avLst/>
          </a:prstGeom>
          <a:solidFill>
            <a:srgbClr val="FFEFE8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1000" b="1">
                <a:solidFill>
                  <a:srgbClr val="222222"/>
                </a:solidFill>
              </a:rPr>
              <a:t>Liquidity-aware</a:t>
            </a:r>
          </a:p>
          <a:p>
            <a:pPr algn="ctr"/>
            <a:r>
              <a:rPr lang="en-US" sz="1000" b="1">
                <a:solidFill>
                  <a:srgbClr val="222222"/>
                </a:solidFill>
              </a:rPr>
              <a:t>decision layer</a:t>
            </a:r>
          </a:p>
        </p:txBody>
      </p:sp>
      <p:sp>
        <p:nvSpPr>
          <p:cNvPr id="11" name="Shape 11"/>
          <p:cNvSpPr/>
          <p:nvPr/>
        </p:nvSpPr>
        <p:spPr>
          <a:xfrm>
            <a:off x="3154680" y="3611880"/>
            <a:ext cx="2395728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0478F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19">
                <a:solidFill>
                  <a:srgbClr val="222222"/>
                </a:solidFill>
              </a:rPr>
              <a:t>Flow / axes</a:t>
            </a:r>
          </a:p>
        </p:txBody>
      </p:sp>
      <p:sp>
        <p:nvSpPr>
          <p:cNvPr id="12" name="Shape 12"/>
          <p:cNvSpPr/>
          <p:nvPr/>
        </p:nvSpPr>
        <p:spPr>
          <a:xfrm>
            <a:off x="5715000" y="3611880"/>
            <a:ext cx="2395728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27C56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19">
                <a:solidFill>
                  <a:srgbClr val="222222"/>
                </a:solidFill>
              </a:rPr>
              <a:t>Fill history</a:t>
            </a:r>
          </a:p>
        </p:txBody>
      </p:sp>
      <p:sp>
        <p:nvSpPr>
          <p:cNvPr id="13" name="Shape 13"/>
          <p:cNvSpPr/>
          <p:nvPr/>
        </p:nvSpPr>
        <p:spPr>
          <a:xfrm>
            <a:off x="8275320" y="1234440"/>
            <a:ext cx="219456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900" b="1">
                <a:solidFill>
                  <a:srgbClr val="227C56"/>
                </a:solidFill>
              </a:rPr>
              <a:t>Efficiency levers</a:t>
            </a:r>
          </a:p>
        </p:txBody>
      </p:sp>
      <p:sp>
        <p:nvSpPr>
          <p:cNvPr id="14" name="Shape 14"/>
          <p:cNvSpPr/>
          <p:nvPr/>
        </p:nvSpPr>
        <p:spPr>
          <a:xfrm>
            <a:off x="7360920" y="2176272"/>
            <a:ext cx="4434840" cy="822960"/>
          </a:xfrm>
          <a:prstGeom prst="roundRect">
            <a:avLst/>
          </a:prstGeom>
          <a:solidFill>
            <a:srgbClr val="E5F6ED"/>
          </a:solidFill>
          <a:ln w="9525">
            <a:solidFill>
              <a:srgbClr val="227C56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30" b="1">
                <a:solidFill>
                  <a:srgbClr val="222222"/>
                </a:solidFill>
              </a:rPr>
              <a:t>Timing    FAK aggression</a:t>
            </a:r>
          </a:p>
          <a:p>
            <a:pPr algn="ctr"/>
            <a:r>
              <a:rPr lang="en-US" sz="930" b="1">
                <a:solidFill>
                  <a:srgbClr val="222222"/>
                </a:solidFill>
              </a:rPr>
              <a:t>Internal cross    Residual route</a:t>
            </a:r>
          </a:p>
        </p:txBody>
      </p:sp>
      <p:sp>
        <p:nvSpPr>
          <p:cNvPr id="15" name="Shape 15"/>
          <p:cNvSpPr/>
          <p:nvPr/>
        </p:nvSpPr>
        <p:spPr>
          <a:xfrm>
            <a:off x="7452360" y="4160520"/>
            <a:ext cx="42519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19" b="1">
                <a:solidFill>
                  <a:srgbClr val="222222"/>
                </a:solidFill>
              </a:rPr>
              <a:t>Slippage + impact + internalization uplift</a:t>
            </a:r>
          </a:p>
          <a:p>
            <a:pPr algn="ctr"/>
            <a:r>
              <a:rPr lang="en-US" sz="919" b="1">
                <a:solidFill>
                  <a:srgbClr val="222222"/>
                </a:solidFill>
              </a:rPr>
              <a:t>-&gt; attributed execution P&amp;L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3474720" y="2011680"/>
            <a:ext cx="411480" cy="475488"/>
          </a:xfrm>
          <a:prstGeom prst="line">
            <a:avLst/>
          </a:prstGeom>
          <a:ln w="19050">
            <a:solidFill>
              <a:srgbClr val="F35D00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 flipV="1">
            <a:off x="3474720" y="2670048"/>
            <a:ext cx="411480" cy="484632"/>
          </a:xfrm>
          <a:prstGeom prst="line">
            <a:avLst/>
          </a:prstGeom>
          <a:ln w="19050">
            <a:solidFill>
              <a:srgbClr val="F35D00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>
            <a:off x="5458968" y="1892808"/>
            <a:ext cx="9144" cy="283464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 flipV="1">
            <a:off x="4352544" y="2999232"/>
            <a:ext cx="448056" cy="612648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 flipH="1" flipV="1">
            <a:off x="5943600" y="2999232"/>
            <a:ext cx="969264" cy="612648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6949440" y="2587752"/>
            <a:ext cx="411480" cy="9144"/>
          </a:xfrm>
          <a:prstGeom prst="line">
            <a:avLst/>
          </a:prstGeom>
          <a:ln w="19050">
            <a:solidFill>
              <a:srgbClr val="F35D00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9582912" y="2999232"/>
            <a:ext cx="9144" cy="1161288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Shape 2"/>
          <p:cNvSpPr/>
          <p:nvPr/>
        </p:nvSpPr>
        <p:spPr>
          <a:xfrm>
            <a:off x="713232" y="384048"/>
            <a:ext cx="10424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l"/>
            <a:r>
              <a:rPr lang="en-US" sz="2200" b="1">
                <a:solidFill>
                  <a:srgbClr val="F35D00"/>
                </a:solidFill>
              </a:rPr>
              <a:t>FAK Order Execution Efficiency</a:t>
            </a:r>
          </a:p>
        </p:txBody>
      </p:sp>
      <p:sp>
        <p:nvSpPr>
          <p:cNvPr id="3" name="Shape 3"/>
          <p:cNvSpPr/>
          <p:nvPr/>
        </p:nvSpPr>
        <p:spPr>
          <a:xfrm>
            <a:off x="713232" y="950976"/>
            <a:ext cx="10378440" cy="32004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4" name="Shape 4"/>
          <p:cNvSpPr/>
          <p:nvPr/>
        </p:nvSpPr>
        <p:spPr>
          <a:xfrm>
            <a:off x="530352" y="557784"/>
            <a:ext cx="109728" cy="109728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5" name="Shape 5"/>
          <p:cNvSpPr/>
          <p:nvPr/>
        </p:nvSpPr>
        <p:spPr>
          <a:xfrm>
            <a:off x="777240" y="1170432"/>
            <a:ext cx="3063240" cy="566928"/>
          </a:xfrm>
          <a:prstGeom prst="roundRect">
            <a:avLst/>
          </a:prstGeom>
          <a:solidFill>
            <a:srgbClr val="E2EFFF"/>
          </a:solidFill>
          <a:ln w="9525">
            <a:solidFill>
              <a:srgbClr val="1C4C84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60">
                <a:solidFill>
                  <a:srgbClr val="222222"/>
                </a:solidFill>
              </a:rPr>
              <a:t>LOB features</a:t>
            </a:r>
          </a:p>
          <a:p>
            <a:pPr algn="ctr"/>
            <a:r>
              <a:rPr lang="en-US" sz="860">
                <a:solidFill>
                  <a:srgbClr val="222222"/>
                </a:solidFill>
              </a:rPr>
              <a:t>spread, depth, imbalance, resiliency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2304288" y="1170432"/>
            <a:ext cx="9144" cy="822960"/>
          </a:xfrm>
          <a:prstGeom prst="line">
            <a:avLst/>
          </a:prstGeom>
          <a:ln w="19050">
            <a:solidFill>
              <a:srgbClr val="F35D00"/>
            </a:solidFill>
            <a:tailEnd type="triangle"/>
          </a:ln>
        </p:spPr>
      </p:cxnSp>
      <p:sp>
        <p:nvSpPr>
          <p:cNvPr id="7" name="Shape 7"/>
          <p:cNvSpPr/>
          <p:nvPr/>
        </p:nvSpPr>
        <p:spPr>
          <a:xfrm>
            <a:off x="777240" y="1993392"/>
            <a:ext cx="3063240" cy="566928"/>
          </a:xfrm>
          <a:prstGeom prst="roundRect">
            <a:avLst/>
          </a:prstGeom>
          <a:solidFill>
            <a:srgbClr val="FFEFE8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60">
                <a:solidFill>
                  <a:srgbClr val="222222"/>
                </a:solidFill>
              </a:rPr>
              <a:t>Direction / liquidity-regime signal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2304288" y="2560320"/>
            <a:ext cx="9144" cy="256032"/>
          </a:xfrm>
          <a:prstGeom prst="line">
            <a:avLst/>
          </a:prstGeom>
          <a:ln w="19050">
            <a:solidFill>
              <a:srgbClr val="F35D00"/>
            </a:solidFill>
            <a:tailEnd type="triangle"/>
          </a:ln>
        </p:spPr>
      </p:cxnSp>
      <p:sp>
        <p:nvSpPr>
          <p:cNvPr id="9" name="Shape 9"/>
          <p:cNvSpPr/>
          <p:nvPr/>
        </p:nvSpPr>
        <p:spPr>
          <a:xfrm>
            <a:off x="777240" y="2816352"/>
            <a:ext cx="3063240" cy="566928"/>
          </a:xfrm>
          <a:prstGeom prst="roundRect">
            <a:avLst/>
          </a:prstGeom>
          <a:solidFill>
            <a:srgbClr val="EFE9F9"/>
          </a:solidFill>
          <a:ln w="9525">
            <a:solidFill>
              <a:srgbClr val="60478F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60">
                <a:solidFill>
                  <a:srgbClr val="222222"/>
                </a:solidFill>
              </a:rPr>
              <a:t>Real-time fill probability</a:t>
            </a:r>
          </a:p>
          <a:p>
            <a:pPr algn="ctr"/>
            <a:r>
              <a:rPr lang="en-US" sz="860">
                <a:solidFill>
                  <a:srgbClr val="222222"/>
                </a:solidFill>
              </a:rPr>
              <a:t>Algo state and queue position</a:t>
            </a:r>
          </a:p>
        </p:txBody>
      </p:sp>
      <p:cxnSp>
        <p:nvCxnSpPr>
          <p:cNvPr id="10" name="Connector 10"/>
          <p:cNvCxnSpPr/>
          <p:nvPr/>
        </p:nvCxnSpPr>
        <p:spPr>
          <a:xfrm flipV="1">
            <a:off x="2304288" y="3639312"/>
            <a:ext cx="9144" cy="310896"/>
          </a:xfrm>
          <a:prstGeom prst="line">
            <a:avLst/>
          </a:prstGeom>
          <a:ln w="19050">
            <a:solidFill>
              <a:srgbClr val="F35D00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777240" y="3639312"/>
            <a:ext cx="3063240" cy="566928"/>
          </a:xfrm>
          <a:prstGeom prst="roundRect">
            <a:avLst/>
          </a:prstGeom>
          <a:solidFill>
            <a:srgbClr val="E5F6ED"/>
          </a:solidFill>
          <a:ln w="9525">
            <a:solidFill>
              <a:srgbClr val="227C56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60">
                <a:solidFill>
                  <a:srgbClr val="222222"/>
                </a:solidFill>
              </a:rPr>
              <a:t>FAK order decision</a:t>
            </a:r>
          </a:p>
          <a:p>
            <a:pPr algn="ctr"/>
            <a:r>
              <a:rPr lang="en-US" sz="860">
                <a:solidFill>
                  <a:srgbClr val="222222"/>
                </a:solidFill>
              </a:rPr>
              <a:t>timing, level, aggressiveness</a:t>
            </a:r>
          </a:p>
        </p:txBody>
      </p:sp>
      <p:sp>
        <p:nvSpPr>
          <p:cNvPr id="12" name="Shape 12"/>
          <p:cNvSpPr/>
          <p:nvPr/>
        </p:nvSpPr>
        <p:spPr>
          <a:xfrm>
            <a:off x="3977640" y="2468880"/>
            <a:ext cx="22402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B5B5B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80">
                <a:solidFill>
                  <a:srgbClr val="222222"/>
                </a:solidFill>
              </a:rPr>
              <a:t>Execution efficiency</a:t>
            </a:r>
          </a:p>
          <a:p>
            <a:pPr algn="ctr"/>
            <a:r>
              <a:rPr lang="en-US" sz="880">
                <a:solidFill>
                  <a:srgbClr val="222222"/>
                </a:solidFill>
              </a:rPr>
              <a:t>Fill quality</a:t>
            </a:r>
          </a:p>
          <a:p>
            <a:pPr algn="ctr"/>
            <a:r>
              <a:rPr lang="en-US" sz="880">
                <a:solidFill>
                  <a:srgbClr val="222222"/>
                </a:solidFill>
              </a:rPr>
              <a:t>Cost control</a:t>
            </a:r>
          </a:p>
        </p:txBody>
      </p:sp>
      <p:cxnSp>
        <p:nvCxnSpPr>
          <p:cNvPr id="13" name="Connector 13"/>
          <p:cNvCxnSpPr/>
          <p:nvPr/>
        </p:nvCxnSpPr>
        <p:spPr>
          <a:xfrm flipV="1">
            <a:off x="3840480" y="3182112"/>
            <a:ext cx="1261872" cy="950976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6720840" y="1325880"/>
            <a:ext cx="4572000" cy="160020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6720840" y="1325880"/>
            <a:ext cx="4572000" cy="438912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812280" y="1399032"/>
            <a:ext cx="43891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Case 1: favorable direction</a:t>
            </a:r>
          </a:p>
        </p:txBody>
      </p:sp>
      <p:sp>
        <p:nvSpPr>
          <p:cNvPr id="17" name="Shape 17"/>
          <p:cNvSpPr/>
          <p:nvPr/>
        </p:nvSpPr>
        <p:spPr>
          <a:xfrm>
            <a:off x="6976872" y="1892808"/>
            <a:ext cx="4187952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Direction supports the order side.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Expected fill probability is higher.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Execution efficiency: lower slippage and lower market impact.</a:t>
            </a:r>
          </a:p>
        </p:txBody>
      </p:sp>
      <p:sp>
        <p:nvSpPr>
          <p:cNvPr id="18" name="Shape 18"/>
          <p:cNvSpPr/>
          <p:nvPr/>
        </p:nvSpPr>
        <p:spPr>
          <a:xfrm>
            <a:off x="6720840" y="3200400"/>
            <a:ext cx="4572000" cy="187452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6720840" y="3200400"/>
            <a:ext cx="4572000" cy="438912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812280" y="3273552"/>
            <a:ext cx="43891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Case 2: adverse direction</a:t>
            </a:r>
          </a:p>
        </p:txBody>
      </p:sp>
      <p:sp>
        <p:nvSpPr>
          <p:cNvPr id="21" name="Shape 21"/>
          <p:cNvSpPr/>
          <p:nvPr/>
        </p:nvSpPr>
        <p:spPr>
          <a:xfrm>
            <a:off x="6976872" y="3767328"/>
            <a:ext cx="4187952" cy="1216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Direction works against the FAK order.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Revise fill expectation and aggressiveness.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Improve success rate and reduce unhedged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Shape 2"/>
          <p:cNvSpPr/>
          <p:nvPr/>
        </p:nvSpPr>
        <p:spPr>
          <a:xfrm>
            <a:off x="713232" y="384048"/>
            <a:ext cx="10424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l"/>
            <a:r>
              <a:rPr lang="en-US" sz="2200" b="1">
                <a:solidFill>
                  <a:srgbClr val="F35D00"/>
                </a:solidFill>
              </a:rPr>
              <a:t>Liquidity is the True State Variable</a:t>
            </a:r>
          </a:p>
        </p:txBody>
      </p:sp>
      <p:sp>
        <p:nvSpPr>
          <p:cNvPr id="3" name="Shape 3"/>
          <p:cNvSpPr/>
          <p:nvPr/>
        </p:nvSpPr>
        <p:spPr>
          <a:xfrm>
            <a:off x="713232" y="950976"/>
            <a:ext cx="10378440" cy="32004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4" name="Shape 4"/>
          <p:cNvSpPr/>
          <p:nvPr/>
        </p:nvSpPr>
        <p:spPr>
          <a:xfrm>
            <a:off x="530352" y="557784"/>
            <a:ext cx="109728" cy="109728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5" name="Shape 5"/>
          <p:cNvSpPr/>
          <p:nvPr/>
        </p:nvSpPr>
        <p:spPr>
          <a:xfrm>
            <a:off x="777240" y="1152144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770">
                <a:solidFill>
                  <a:srgbClr val="222222"/>
                </a:solidFill>
              </a:rPr>
              <a:t>L_t = {cost, capacity, immediacy, resiliency,</a:t>
            </a:r>
          </a:p>
          <a:p>
            <a:pPr algn="l"/>
            <a:r>
              <a:rPr lang="en-US" sz="770">
                <a:solidFill>
                  <a:srgbClr val="222222"/>
                </a:solidFill>
              </a:rPr>
              <a:t>toxicity, internal fit}</a:t>
            </a:r>
          </a:p>
        </p:txBody>
      </p:sp>
      <p:cxnSp>
        <p:nvCxnSpPr>
          <p:cNvPr id="6" name="Connector 6"/>
          <p:cNvCxnSpPr/>
          <p:nvPr/>
        </p:nvCxnSpPr>
        <p:spPr>
          <a:xfrm>
            <a:off x="2560320" y="2331720"/>
            <a:ext cx="435541" cy="25146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7" name="Connector 7"/>
          <p:cNvCxnSpPr/>
          <p:nvPr/>
        </p:nvCxnSpPr>
        <p:spPr>
          <a:xfrm>
            <a:off x="2995861" y="2583180"/>
            <a:ext cx="9144" cy="50292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8" name="Connector 8"/>
          <p:cNvCxnSpPr/>
          <p:nvPr/>
        </p:nvCxnSpPr>
        <p:spPr>
          <a:xfrm flipH="1">
            <a:off x="2560320" y="3086100"/>
            <a:ext cx="435541" cy="25146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9" name="Connector 9"/>
          <p:cNvCxnSpPr/>
          <p:nvPr/>
        </p:nvCxnSpPr>
        <p:spPr>
          <a:xfrm flipH="1" flipV="1">
            <a:off x="2124779" y="3086100"/>
            <a:ext cx="435541" cy="25146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0" name="Connector 10"/>
          <p:cNvCxnSpPr/>
          <p:nvPr/>
        </p:nvCxnSpPr>
        <p:spPr>
          <a:xfrm flipV="1">
            <a:off x="2124779" y="2583180"/>
            <a:ext cx="9144" cy="50292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1" name="Connector 11"/>
          <p:cNvCxnSpPr/>
          <p:nvPr/>
        </p:nvCxnSpPr>
        <p:spPr>
          <a:xfrm flipV="1">
            <a:off x="2124779" y="2331720"/>
            <a:ext cx="435541" cy="25146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2560320" y="1828800"/>
            <a:ext cx="871083" cy="50292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3431403" y="2331720"/>
            <a:ext cx="0" cy="100584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4" name="Connector 14"/>
          <p:cNvCxnSpPr/>
          <p:nvPr/>
        </p:nvCxnSpPr>
        <p:spPr>
          <a:xfrm flipH="1">
            <a:off x="2560320" y="3337560"/>
            <a:ext cx="871083" cy="50292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5" name="Connector 15"/>
          <p:cNvCxnSpPr/>
          <p:nvPr/>
        </p:nvCxnSpPr>
        <p:spPr>
          <a:xfrm flipH="1" flipV="1">
            <a:off x="1689237" y="3337560"/>
            <a:ext cx="871083" cy="50292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6" name="Connector 16"/>
          <p:cNvCxnSpPr/>
          <p:nvPr/>
        </p:nvCxnSpPr>
        <p:spPr>
          <a:xfrm flipV="1">
            <a:off x="1689237" y="2331720"/>
            <a:ext cx="9144" cy="100584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7" name="Connector 17"/>
          <p:cNvCxnSpPr/>
          <p:nvPr/>
        </p:nvCxnSpPr>
        <p:spPr>
          <a:xfrm flipV="1">
            <a:off x="1689237" y="1828800"/>
            <a:ext cx="871083" cy="50292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8" name="Connector 18"/>
          <p:cNvCxnSpPr/>
          <p:nvPr/>
        </p:nvCxnSpPr>
        <p:spPr>
          <a:xfrm>
            <a:off x="2560320" y="1325880"/>
            <a:ext cx="1306624" cy="75438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19" name="Connector 19"/>
          <p:cNvCxnSpPr/>
          <p:nvPr/>
        </p:nvCxnSpPr>
        <p:spPr>
          <a:xfrm>
            <a:off x="3866944" y="2080260"/>
            <a:ext cx="0" cy="150876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0" name="Connector 20"/>
          <p:cNvCxnSpPr/>
          <p:nvPr/>
        </p:nvCxnSpPr>
        <p:spPr>
          <a:xfrm flipH="1">
            <a:off x="2560320" y="3589020"/>
            <a:ext cx="1306624" cy="75438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1" name="Connector 21"/>
          <p:cNvCxnSpPr/>
          <p:nvPr/>
        </p:nvCxnSpPr>
        <p:spPr>
          <a:xfrm flipH="1" flipV="1">
            <a:off x="1253696" y="3589020"/>
            <a:ext cx="1306624" cy="75438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2" name="Connector 22"/>
          <p:cNvCxnSpPr/>
          <p:nvPr/>
        </p:nvCxnSpPr>
        <p:spPr>
          <a:xfrm flipV="1">
            <a:off x="1253696" y="2080260"/>
            <a:ext cx="0" cy="150876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3" name="Connector 23"/>
          <p:cNvCxnSpPr/>
          <p:nvPr/>
        </p:nvCxnSpPr>
        <p:spPr>
          <a:xfrm flipV="1">
            <a:off x="1253696" y="1325880"/>
            <a:ext cx="1306624" cy="75438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4" name="Connector 24"/>
          <p:cNvCxnSpPr/>
          <p:nvPr/>
        </p:nvCxnSpPr>
        <p:spPr>
          <a:xfrm flipH="1" flipV="1">
            <a:off x="2560320" y="1234440"/>
            <a:ext cx="0" cy="160020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5" name="Connector 25"/>
          <p:cNvCxnSpPr/>
          <p:nvPr/>
        </p:nvCxnSpPr>
        <p:spPr>
          <a:xfrm flipV="1">
            <a:off x="2560320" y="2034540"/>
            <a:ext cx="1385814" cy="80010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6" name="Connector 26"/>
          <p:cNvCxnSpPr/>
          <p:nvPr/>
        </p:nvCxnSpPr>
        <p:spPr>
          <a:xfrm>
            <a:off x="2560320" y="2834640"/>
            <a:ext cx="1385814" cy="80010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7" name="Connector 27"/>
          <p:cNvCxnSpPr/>
          <p:nvPr/>
        </p:nvCxnSpPr>
        <p:spPr>
          <a:xfrm>
            <a:off x="2560320" y="2834640"/>
            <a:ext cx="9144" cy="160020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8" name="Connector 28"/>
          <p:cNvCxnSpPr/>
          <p:nvPr/>
        </p:nvCxnSpPr>
        <p:spPr>
          <a:xfrm flipH="1">
            <a:off x="1174506" y="2834640"/>
            <a:ext cx="1385814" cy="80010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cxnSp>
        <p:nvCxnSpPr>
          <p:cNvPr id="29" name="Connector 29"/>
          <p:cNvCxnSpPr/>
          <p:nvPr/>
        </p:nvCxnSpPr>
        <p:spPr>
          <a:xfrm flipH="1" flipV="1">
            <a:off x="1174506" y="2034540"/>
            <a:ext cx="1385814" cy="800100"/>
          </a:xfrm>
          <a:prstGeom prst="line">
            <a:avLst/>
          </a:prstGeom>
          <a:ln w="19050">
            <a:solidFill>
              <a:srgbClr val="C9C9C9"/>
            </a:solidFill>
          </a:ln>
        </p:spPr>
      </p:cxnSp>
      <p:sp>
        <p:nvSpPr>
          <p:cNvPr id="30" name="Shape 30"/>
          <p:cNvSpPr/>
          <p:nvPr/>
        </p:nvSpPr>
        <p:spPr>
          <a:xfrm>
            <a:off x="2103120" y="896112"/>
            <a:ext cx="91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Cost</a:t>
            </a:r>
          </a:p>
        </p:txBody>
      </p:sp>
      <p:sp>
        <p:nvSpPr>
          <p:cNvPr id="31" name="Shape 31"/>
          <p:cNvSpPr/>
          <p:nvPr/>
        </p:nvSpPr>
        <p:spPr>
          <a:xfrm>
            <a:off x="3686907" y="1810512"/>
            <a:ext cx="91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Capacity</a:t>
            </a:r>
          </a:p>
        </p:txBody>
      </p:sp>
      <p:sp>
        <p:nvSpPr>
          <p:cNvPr id="32" name="Shape 32"/>
          <p:cNvSpPr/>
          <p:nvPr/>
        </p:nvSpPr>
        <p:spPr>
          <a:xfrm>
            <a:off x="3686907" y="3639312"/>
            <a:ext cx="91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Immediacy</a:t>
            </a:r>
          </a:p>
        </p:txBody>
      </p:sp>
      <p:sp>
        <p:nvSpPr>
          <p:cNvPr id="33" name="Shape 33"/>
          <p:cNvSpPr/>
          <p:nvPr/>
        </p:nvSpPr>
        <p:spPr>
          <a:xfrm>
            <a:off x="2103120" y="4553712"/>
            <a:ext cx="91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Resiliency</a:t>
            </a:r>
          </a:p>
        </p:txBody>
      </p:sp>
      <p:sp>
        <p:nvSpPr>
          <p:cNvPr id="34" name="Shape 34"/>
          <p:cNvSpPr/>
          <p:nvPr/>
        </p:nvSpPr>
        <p:spPr>
          <a:xfrm>
            <a:off x="519333" y="3639312"/>
            <a:ext cx="91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Toxicity</a:t>
            </a:r>
          </a:p>
        </p:txBody>
      </p:sp>
      <p:sp>
        <p:nvSpPr>
          <p:cNvPr id="35" name="Shape 35"/>
          <p:cNvSpPr/>
          <p:nvPr/>
        </p:nvSpPr>
        <p:spPr>
          <a:xfrm>
            <a:off x="519333" y="1810512"/>
            <a:ext cx="914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Internal fit</a:t>
            </a:r>
          </a:p>
        </p:txBody>
      </p:sp>
      <p:sp>
        <p:nvSpPr>
          <p:cNvPr id="36" name="Shape 36"/>
          <p:cNvSpPr/>
          <p:nvPr/>
        </p:nvSpPr>
        <p:spPr>
          <a:xfrm>
            <a:off x="2084832" y="2624328"/>
            <a:ext cx="950976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00" b="1">
                <a:solidFill>
                  <a:srgbClr val="222222"/>
                </a:solidFill>
              </a:rPr>
              <a:t>liquidity</a:t>
            </a:r>
          </a:p>
          <a:p>
            <a:pPr algn="ctr"/>
            <a:r>
              <a:rPr lang="en-US" sz="800" b="1">
                <a:solidFill>
                  <a:srgbClr val="222222"/>
                </a:solidFill>
              </a:rPr>
              <a:t>state</a:t>
            </a:r>
          </a:p>
        </p:txBody>
      </p:sp>
      <p:sp>
        <p:nvSpPr>
          <p:cNvPr id="37" name="Shape 37"/>
          <p:cNvSpPr/>
          <p:nvPr/>
        </p:nvSpPr>
        <p:spPr>
          <a:xfrm>
            <a:off x="6080760" y="1143000"/>
            <a:ext cx="5212080" cy="269748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6080760" y="1143000"/>
            <a:ext cx="5212080" cy="438912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39" name="Shape 39"/>
          <p:cNvSpPr/>
          <p:nvPr/>
        </p:nvSpPr>
        <p:spPr>
          <a:xfrm>
            <a:off x="6172200" y="1216152"/>
            <a:ext cx="50292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How to read the state</a:t>
            </a:r>
          </a:p>
        </p:txBody>
      </p:sp>
      <p:sp>
        <p:nvSpPr>
          <p:cNvPr id="40" name="Shape 40"/>
          <p:cNvSpPr/>
          <p:nvPr/>
        </p:nvSpPr>
        <p:spPr>
          <a:xfrm>
            <a:off x="6336792" y="1709928"/>
            <a:ext cx="4828032" cy="2039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High capacity + fast resiliency: raise FAK confidence.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High cost or toxicity: revise fill expectation and aggression.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High internal fit: cross internally before external routing.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Weak state: delay, slice smaller, or hedge earlier.</a:t>
            </a:r>
          </a:p>
        </p:txBody>
      </p:sp>
      <p:sp>
        <p:nvSpPr>
          <p:cNvPr id="41" name="Shape 41"/>
          <p:cNvSpPr/>
          <p:nvPr/>
        </p:nvSpPr>
        <p:spPr>
          <a:xfrm>
            <a:off x="6080760" y="4160520"/>
            <a:ext cx="5212080" cy="82296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42" name="Shape 42"/>
          <p:cNvSpPr/>
          <p:nvPr/>
        </p:nvSpPr>
        <p:spPr>
          <a:xfrm>
            <a:off x="6080760" y="4160520"/>
            <a:ext cx="5212080" cy="438912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Design rule</a:t>
            </a:r>
          </a:p>
        </p:txBody>
      </p:sp>
      <p:sp>
        <p:nvSpPr>
          <p:cNvPr id="43" name="Shape 43"/>
          <p:cNvSpPr/>
          <p:nvPr/>
        </p:nvSpPr>
        <p:spPr>
          <a:xfrm>
            <a:off x="6446520" y="4681728"/>
            <a:ext cx="44805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1019" b="1">
                <a:solidFill>
                  <a:srgbClr val="222222"/>
                </a:solidFill>
              </a:rPr>
              <a:t>Price is the observation. Liquidity is the control state.</a:t>
            </a:r>
          </a:p>
        </p:txBody>
      </p:sp>
      <p:sp>
        <p:nvSpPr>
          <p:cNvPr id="44" name="Shape 44"/>
          <p:cNvSpPr/>
          <p:nvPr/>
        </p:nvSpPr>
        <p:spPr>
          <a:xfrm>
            <a:off x="731520" y="6355080"/>
            <a:ext cx="107899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660">
                <a:solidFill>
                  <a:srgbClr val="5B5B5B"/>
                </a:solidFill>
              </a:rPr>
              <a:t>Source: Lehalle and Laruelle; Cont and de Larrard; Bacry et al.; LOBFrame / LOB benchmark studies.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Shape 2"/>
          <p:cNvSpPr/>
          <p:nvPr/>
        </p:nvSpPr>
        <p:spPr>
          <a:xfrm>
            <a:off x="713232" y="384048"/>
            <a:ext cx="10424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l"/>
            <a:r>
              <a:rPr lang="en-US" sz="2200" b="1">
                <a:solidFill>
                  <a:srgbClr val="F35D00"/>
                </a:solidFill>
              </a:rPr>
              <a:t>Internal Flow: Fit Before Route</a:t>
            </a:r>
          </a:p>
        </p:txBody>
      </p:sp>
      <p:sp>
        <p:nvSpPr>
          <p:cNvPr id="3" name="Shape 3"/>
          <p:cNvSpPr/>
          <p:nvPr/>
        </p:nvSpPr>
        <p:spPr>
          <a:xfrm>
            <a:off x="713232" y="950976"/>
            <a:ext cx="10378440" cy="32004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4" name="Shape 4"/>
          <p:cNvSpPr/>
          <p:nvPr/>
        </p:nvSpPr>
        <p:spPr>
          <a:xfrm>
            <a:off x="530352" y="557784"/>
            <a:ext cx="109728" cy="109728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cxnSp>
        <p:nvCxnSpPr>
          <p:cNvPr id="5" name="Connector 5"/>
          <p:cNvCxnSpPr/>
          <p:nvPr/>
        </p:nvCxnSpPr>
        <p:spPr>
          <a:xfrm>
            <a:off x="960120" y="4663440"/>
            <a:ext cx="5394960" cy="9144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  <p:cxnSp>
        <p:nvCxnSpPr>
          <p:cNvPr id="6" name="Connector 6"/>
          <p:cNvCxnSpPr/>
          <p:nvPr/>
        </p:nvCxnSpPr>
        <p:spPr>
          <a:xfrm flipV="1">
            <a:off x="960120" y="1874520"/>
            <a:ext cx="9144" cy="2788920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  <p:sp>
        <p:nvSpPr>
          <p:cNvPr id="7" name="Shape 7"/>
          <p:cNvSpPr/>
          <p:nvPr/>
        </p:nvSpPr>
        <p:spPr>
          <a:xfrm>
            <a:off x="2880360" y="4892040"/>
            <a:ext cx="23774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30">
                <a:solidFill>
                  <a:srgbClr val="5B5B5B"/>
                </a:solidFill>
              </a:rPr>
              <a:t>External liquidity state</a:t>
            </a:r>
          </a:p>
        </p:txBody>
      </p:sp>
      <p:sp>
        <p:nvSpPr>
          <p:cNvPr id="8" name="Shape 8"/>
          <p:cNvSpPr/>
          <p:nvPr/>
        </p:nvSpPr>
        <p:spPr>
          <a:xfrm>
            <a:off x="256032" y="2926080"/>
            <a:ext cx="141732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30">
                <a:solidFill>
                  <a:srgbClr val="5B5B5B"/>
                </a:solidFill>
              </a:rPr>
              <a:t>Internal fit</a:t>
            </a:r>
          </a:p>
        </p:txBody>
      </p:sp>
      <p:sp>
        <p:nvSpPr>
          <p:cNvPr id="9" name="Shape 9"/>
          <p:cNvSpPr/>
          <p:nvPr/>
        </p:nvSpPr>
        <p:spPr>
          <a:xfrm>
            <a:off x="2240280" y="1188720"/>
            <a:ext cx="25146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00" b="1">
                <a:solidFill>
                  <a:srgbClr val="222222"/>
                </a:solidFill>
              </a:rPr>
              <a:t>Policy map from</a:t>
            </a:r>
          </a:p>
          <a:p>
            <a:pPr algn="ctr"/>
            <a:r>
              <a:rPr lang="en-US" sz="900" b="1">
                <a:solidFill>
                  <a:srgbClr val="222222"/>
                </a:solidFill>
              </a:rPr>
              <a:t>internal fit score</a:t>
            </a:r>
          </a:p>
        </p:txBody>
      </p:sp>
      <p:sp>
        <p:nvSpPr>
          <p:cNvPr id="10" name="Shape 10"/>
          <p:cNvSpPr/>
          <p:nvPr/>
        </p:nvSpPr>
        <p:spPr>
          <a:xfrm>
            <a:off x="1143000" y="2011680"/>
            <a:ext cx="2331720" cy="1234440"/>
          </a:xfrm>
          <a:prstGeom prst="rect">
            <a:avLst/>
          </a:prstGeom>
          <a:solidFill>
            <a:srgbClr val="FFEFE8"/>
          </a:solidFill>
          <a:ln>
            <a:noFill/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00" b="1">
                <a:solidFill>
                  <a:srgbClr val="222222"/>
                </a:solidFill>
              </a:rPr>
              <a:t>Warehouse / wait</a:t>
            </a:r>
          </a:p>
          <a:p>
            <a:pPr algn="ctr"/>
            <a:r>
              <a:rPr lang="en-US" sz="900" b="1">
                <a:solidFill>
                  <a:srgbClr val="222222"/>
                </a:solidFill>
              </a:rPr>
              <a:t>avoid toxic route</a:t>
            </a:r>
          </a:p>
        </p:txBody>
      </p:sp>
      <p:sp>
        <p:nvSpPr>
          <p:cNvPr id="11" name="Shape 11"/>
          <p:cNvSpPr/>
          <p:nvPr/>
        </p:nvSpPr>
        <p:spPr>
          <a:xfrm>
            <a:off x="3611880" y="2011680"/>
            <a:ext cx="2331720" cy="1234440"/>
          </a:xfrm>
          <a:prstGeom prst="rect">
            <a:avLst/>
          </a:prstGeom>
          <a:solidFill>
            <a:srgbClr val="E5F6ED"/>
          </a:solidFill>
          <a:ln>
            <a:noFill/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00" b="1">
                <a:solidFill>
                  <a:srgbClr val="222222"/>
                </a:solidFill>
              </a:rPr>
              <a:t>Cross internally</a:t>
            </a:r>
          </a:p>
          <a:p>
            <a:pPr algn="ctr"/>
            <a:r>
              <a:rPr lang="en-US" sz="900" b="1">
                <a:solidFill>
                  <a:srgbClr val="222222"/>
                </a:solidFill>
              </a:rPr>
              <a:t>then hedge residual</a:t>
            </a:r>
          </a:p>
        </p:txBody>
      </p:sp>
      <p:sp>
        <p:nvSpPr>
          <p:cNvPr id="12" name="Shape 12"/>
          <p:cNvSpPr/>
          <p:nvPr/>
        </p:nvSpPr>
        <p:spPr>
          <a:xfrm>
            <a:off x="1143000" y="3383280"/>
            <a:ext cx="2331720" cy="1234440"/>
          </a:xfrm>
          <a:prstGeom prst="rect">
            <a:avLst/>
          </a:prstGeom>
          <a:solidFill>
            <a:srgbClr val="EFE9F9"/>
          </a:solidFill>
          <a:ln>
            <a:noFill/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00" b="1">
                <a:solidFill>
                  <a:srgbClr val="222222"/>
                </a:solidFill>
              </a:rPr>
              <a:t>Hold smaller</a:t>
            </a:r>
          </a:p>
          <a:p>
            <a:pPr algn="ctr"/>
            <a:r>
              <a:rPr lang="en-US" sz="900" b="1">
                <a:solidFill>
                  <a:srgbClr val="222222"/>
                </a:solidFill>
              </a:rPr>
              <a:t>seek flow</a:t>
            </a:r>
          </a:p>
        </p:txBody>
      </p:sp>
      <p:sp>
        <p:nvSpPr>
          <p:cNvPr id="13" name="Shape 13"/>
          <p:cNvSpPr/>
          <p:nvPr/>
        </p:nvSpPr>
        <p:spPr>
          <a:xfrm>
            <a:off x="3611880" y="3383280"/>
            <a:ext cx="2331720" cy="1234440"/>
          </a:xfrm>
          <a:prstGeom prst="rect">
            <a:avLst/>
          </a:prstGeom>
          <a:solidFill>
            <a:srgbClr val="E2EFFF"/>
          </a:solidFill>
          <a:ln>
            <a:noFill/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900" b="1">
                <a:solidFill>
                  <a:srgbClr val="222222"/>
                </a:solidFill>
              </a:rPr>
              <a:t>Route externally</a:t>
            </a:r>
          </a:p>
          <a:p>
            <a:pPr algn="ctr"/>
            <a:r>
              <a:rPr lang="en-US" sz="900" b="1">
                <a:solidFill>
                  <a:srgbClr val="222222"/>
                </a:solidFill>
              </a:rPr>
              <a:t>low residual cost</a:t>
            </a:r>
          </a:p>
        </p:txBody>
      </p:sp>
      <p:sp>
        <p:nvSpPr>
          <p:cNvPr id="14" name="Shape 14"/>
          <p:cNvSpPr/>
          <p:nvPr/>
        </p:nvSpPr>
        <p:spPr>
          <a:xfrm>
            <a:off x="7406640" y="1417320"/>
            <a:ext cx="4480560" cy="201168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7406640" y="1417320"/>
            <a:ext cx="4480560" cy="438912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498080" y="1490472"/>
            <a:ext cx="4297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Fit score inputs</a:t>
            </a:r>
          </a:p>
        </p:txBody>
      </p:sp>
      <p:sp>
        <p:nvSpPr>
          <p:cNvPr id="17" name="Shape 17"/>
          <p:cNvSpPr/>
          <p:nvPr/>
        </p:nvSpPr>
        <p:spPr>
          <a:xfrm>
            <a:off x="7662672" y="1984248"/>
            <a:ext cx="4096512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Orders, RFQ, axes and inventory.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Side, tenor, size and urgency.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Liquidity cost, capacity and toxicity.</a:t>
            </a:r>
          </a:p>
        </p:txBody>
      </p:sp>
      <p:sp>
        <p:nvSpPr>
          <p:cNvPr id="18" name="Shape 18"/>
          <p:cNvSpPr/>
          <p:nvPr/>
        </p:nvSpPr>
        <p:spPr>
          <a:xfrm>
            <a:off x="7406640" y="3703320"/>
            <a:ext cx="4480560" cy="178308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7406640" y="3703320"/>
            <a:ext cx="4480560" cy="438912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7498080" y="3776472"/>
            <a:ext cx="4297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Decision principle</a:t>
            </a:r>
          </a:p>
        </p:txBody>
      </p:sp>
      <p:sp>
        <p:nvSpPr>
          <p:cNvPr id="21" name="Shape 21"/>
          <p:cNvSpPr/>
          <p:nvPr/>
        </p:nvSpPr>
        <p:spPr>
          <a:xfrm>
            <a:off x="7662672" y="4270248"/>
            <a:ext cx="4096512" cy="1124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Internalize when fit is high.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Route only the measured residual.</a:t>
            </a:r>
          </a:p>
          <a:p>
            <a:pPr algn="l">
              <a:buChar char="▸"/>
            </a:pPr>
            <a:r>
              <a:rPr lang="en-US" sz="1050">
                <a:solidFill>
                  <a:srgbClr val="222222"/>
                </a:solidFill>
              </a:rPr>
              <a:t>Prove uplift vs. external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Shape 2"/>
          <p:cNvSpPr/>
          <p:nvPr/>
        </p:nvSpPr>
        <p:spPr>
          <a:xfrm>
            <a:off x="713232" y="384048"/>
            <a:ext cx="10424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288" rIns="18288" tIns="18288" bIns="18288"/>
          <a:lstStyle/>
          <a:p>
            <a:pPr algn="l"/>
            <a:r>
              <a:rPr lang="en-US" sz="2200" b="1">
                <a:solidFill>
                  <a:srgbClr val="F35D00"/>
                </a:solidFill>
              </a:rPr>
              <a:t>0.01 bp Execution P&amp;L: Attribution Plan</a:t>
            </a:r>
          </a:p>
        </p:txBody>
      </p:sp>
      <p:sp>
        <p:nvSpPr>
          <p:cNvPr id="3" name="Shape 3"/>
          <p:cNvSpPr/>
          <p:nvPr/>
        </p:nvSpPr>
        <p:spPr>
          <a:xfrm>
            <a:off x="713232" y="950976"/>
            <a:ext cx="10378440" cy="32004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4" name="Shape 4"/>
          <p:cNvSpPr/>
          <p:nvPr/>
        </p:nvSpPr>
        <p:spPr>
          <a:xfrm>
            <a:off x="530352" y="557784"/>
            <a:ext cx="109728" cy="109728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</p:sp>
      <p:sp>
        <p:nvSpPr>
          <p:cNvPr id="5" name="Shape 5"/>
          <p:cNvSpPr/>
          <p:nvPr/>
        </p:nvSpPr>
        <p:spPr>
          <a:xfrm>
            <a:off x="713232" y="1298448"/>
            <a:ext cx="5120640" cy="2011680"/>
          </a:xfrm>
          <a:prstGeom prst="rect">
            <a:avLst/>
          </a:prstGeom>
          <a:solidFill>
            <a:srgbClr val="FFEFE8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713232" y="1298448"/>
            <a:ext cx="5120640" cy="512064"/>
          </a:xfrm>
          <a:prstGeom prst="rect">
            <a:avLst/>
          </a:prstGeom>
          <a:solidFill>
            <a:srgbClr val="F35D00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Annual efficiency target</a:t>
            </a:r>
          </a:p>
        </p:txBody>
      </p:sp>
      <p:sp>
        <p:nvSpPr>
          <p:cNvPr id="7" name="Shape 7"/>
          <p:cNvSpPr/>
          <p:nvPr/>
        </p:nvSpPr>
        <p:spPr>
          <a:xfrm>
            <a:off x="713232" y="1938528"/>
            <a:ext cx="51206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2600" b="1">
                <a:solidFill>
                  <a:srgbClr val="B84300"/>
                </a:solidFill>
              </a:rPr>
              <a:t>90M</a:t>
            </a:r>
          </a:p>
        </p:txBody>
      </p:sp>
      <p:sp>
        <p:nvSpPr>
          <p:cNvPr id="8" name="Shape 8"/>
          <p:cNvSpPr/>
          <p:nvPr/>
        </p:nvSpPr>
        <p:spPr>
          <a:xfrm>
            <a:off x="713232" y="2578608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1050">
                <a:solidFill>
                  <a:srgbClr val="222222"/>
                </a:solidFill>
              </a:rPr>
              <a:t>annual target from 0.01 bp saving</a:t>
            </a:r>
          </a:p>
        </p:txBody>
      </p:sp>
      <p:sp>
        <p:nvSpPr>
          <p:cNvPr id="9" name="Shape 9"/>
          <p:cNvSpPr/>
          <p:nvPr/>
        </p:nvSpPr>
        <p:spPr>
          <a:xfrm>
            <a:off x="1005840" y="356616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l">
              <a:buChar char="▸"/>
            </a:pPr>
            <a:r>
              <a:rPr lang="en-US" sz="950">
                <a:solidFill>
                  <a:srgbClr val="222222"/>
                </a:solidFill>
              </a:rPr>
              <a:t>2025 flow: 45tn.</a:t>
            </a:r>
          </a:p>
          <a:p>
            <a:pPr algn="l">
              <a:buChar char="▸"/>
            </a:pPr>
            <a:r>
              <a:rPr lang="en-US" sz="950">
                <a:solidFill>
                  <a:srgbClr val="222222"/>
                </a:solidFill>
              </a:rPr>
              <a:t>Average duration: 2 years.</a:t>
            </a:r>
          </a:p>
          <a:p>
            <a:pPr algn="l">
              <a:buChar char="▸"/>
            </a:pPr>
            <a:r>
              <a:rPr lang="en-US" sz="950">
                <a:solidFill>
                  <a:srgbClr val="222222"/>
                </a:solidFill>
              </a:rPr>
              <a:t>45tn x 2 x 0.01bp ~= 90M.</a:t>
            </a:r>
          </a:p>
        </p:txBody>
      </p:sp>
      <p:sp>
        <p:nvSpPr>
          <p:cNvPr id="10" name="Shape 10"/>
          <p:cNvSpPr/>
          <p:nvPr/>
        </p:nvSpPr>
        <p:spPr>
          <a:xfrm>
            <a:off x="868680" y="5285232"/>
            <a:ext cx="1051560" cy="310896"/>
          </a:xfrm>
          <a:prstGeom prst="roundRect">
            <a:avLst/>
          </a:prstGeom>
          <a:solidFill>
            <a:srgbClr val="E2EFFF"/>
          </a:solidFill>
          <a:ln w="9525">
            <a:solidFill>
              <a:srgbClr val="5B5B5B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780">
                <a:solidFill>
                  <a:srgbClr val="222222"/>
                </a:solidFill>
              </a:rPr>
              <a:t>Replay</a:t>
            </a:r>
          </a:p>
        </p:txBody>
      </p:sp>
      <p:sp>
        <p:nvSpPr>
          <p:cNvPr id="11" name="Shape 11"/>
          <p:cNvSpPr/>
          <p:nvPr/>
        </p:nvSpPr>
        <p:spPr>
          <a:xfrm>
            <a:off x="2011680" y="5285232"/>
            <a:ext cx="1051560" cy="310896"/>
          </a:xfrm>
          <a:prstGeom prst="roundRect">
            <a:avLst/>
          </a:prstGeom>
          <a:solidFill>
            <a:srgbClr val="FFEFE8"/>
          </a:solidFill>
          <a:ln w="9525">
            <a:solidFill>
              <a:srgbClr val="5B5B5B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780">
                <a:solidFill>
                  <a:srgbClr val="222222"/>
                </a:solidFill>
              </a:rPr>
              <a:t>Shadow</a:t>
            </a:r>
          </a:p>
        </p:txBody>
      </p:sp>
      <p:sp>
        <p:nvSpPr>
          <p:cNvPr id="12" name="Shape 12"/>
          <p:cNvSpPr/>
          <p:nvPr/>
        </p:nvSpPr>
        <p:spPr>
          <a:xfrm>
            <a:off x="3154680" y="5285232"/>
            <a:ext cx="1051560" cy="310896"/>
          </a:xfrm>
          <a:prstGeom prst="roundRect">
            <a:avLst/>
          </a:prstGeom>
          <a:solidFill>
            <a:srgbClr val="EFE9F9"/>
          </a:solidFill>
          <a:ln w="9525">
            <a:solidFill>
              <a:srgbClr val="5B5B5B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780">
                <a:solidFill>
                  <a:srgbClr val="222222"/>
                </a:solidFill>
              </a:rPr>
              <a:t>Pilot</a:t>
            </a:r>
          </a:p>
        </p:txBody>
      </p:sp>
      <p:sp>
        <p:nvSpPr>
          <p:cNvPr id="13" name="Shape 13"/>
          <p:cNvSpPr/>
          <p:nvPr/>
        </p:nvSpPr>
        <p:spPr>
          <a:xfrm>
            <a:off x="4297680" y="5285232"/>
            <a:ext cx="1051560" cy="310896"/>
          </a:xfrm>
          <a:prstGeom prst="roundRect">
            <a:avLst/>
          </a:prstGeom>
          <a:solidFill>
            <a:srgbClr val="E5F6ED"/>
          </a:solidFill>
          <a:ln w="9525">
            <a:solidFill>
              <a:srgbClr val="5B5B5B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780">
                <a:solidFill>
                  <a:srgbClr val="222222"/>
                </a:solidFill>
              </a:rPr>
              <a:t>Scale</a:t>
            </a:r>
          </a:p>
        </p:txBody>
      </p:sp>
      <p:sp>
        <p:nvSpPr>
          <p:cNvPr id="14" name="Shape 14"/>
          <p:cNvSpPr/>
          <p:nvPr/>
        </p:nvSpPr>
        <p:spPr>
          <a:xfrm>
            <a:off x="7315200" y="1234440"/>
            <a:ext cx="3200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en-US" sz="880">
                <a:solidFill>
                  <a:srgbClr val="5B5B5B"/>
                </a:solidFill>
              </a:rPr>
              <a:t>Where the 0.01 bp comes from</a:t>
            </a:r>
          </a:p>
        </p:txBody>
      </p:sp>
      <p:sp>
        <p:nvSpPr>
          <p:cNvPr id="15" name="Shape 15"/>
          <p:cNvSpPr/>
          <p:nvPr/>
        </p:nvSpPr>
        <p:spPr>
          <a:xfrm>
            <a:off x="6199632" y="1664208"/>
            <a:ext cx="5074920" cy="457200"/>
          </a:xfrm>
          <a:prstGeom prst="roundRect">
            <a:avLst/>
          </a:prstGeom>
          <a:solidFill>
            <a:srgbClr val="FFEFE8"/>
          </a:solidFill>
          <a:ln w="9525">
            <a:solidFill>
              <a:srgbClr val="F35D00"/>
            </a:solidFill>
          </a:ln>
        </p:spPr>
        <p:txBody>
          <a:bodyPr wrap="square" anchor="ctr" lIns="73152" rIns="73152" tIns="73152" bIns="73152"/>
          <a:lstStyle/>
          <a:p>
            <a:pPr algn="l"/>
            <a:r>
              <a:rPr lang="en-US" sz="800">
                <a:solidFill>
                  <a:srgbClr val="222222"/>
                </a:solidFill>
              </a:rPr>
              <a:t>Internal crossing        avoid spread + external impact</a:t>
            </a:r>
          </a:p>
        </p:txBody>
      </p:sp>
      <p:sp>
        <p:nvSpPr>
          <p:cNvPr id="16" name="Shape 16"/>
          <p:cNvSpPr/>
          <p:nvPr/>
        </p:nvSpPr>
        <p:spPr>
          <a:xfrm>
            <a:off x="6199632" y="2468880"/>
            <a:ext cx="5074920" cy="457200"/>
          </a:xfrm>
          <a:prstGeom prst="roundRect">
            <a:avLst/>
          </a:prstGeom>
          <a:solidFill>
            <a:srgbClr val="E2EFFF"/>
          </a:solidFill>
          <a:ln w="9525">
            <a:solidFill>
              <a:srgbClr val="1C4C84"/>
            </a:solidFill>
          </a:ln>
        </p:spPr>
        <p:txBody>
          <a:bodyPr wrap="square" anchor="ctr" lIns="73152" rIns="73152" tIns="73152" bIns="73152"/>
          <a:lstStyle/>
          <a:p>
            <a:pPr algn="l"/>
            <a:r>
              <a:rPr lang="en-US" sz="800">
                <a:solidFill>
                  <a:srgbClr val="222222"/>
                </a:solidFill>
              </a:rPr>
              <a:t>Liquidity timing        depth + resiliency windows</a:t>
            </a:r>
          </a:p>
        </p:txBody>
      </p:sp>
      <p:sp>
        <p:nvSpPr>
          <p:cNvPr id="17" name="Shape 17"/>
          <p:cNvSpPr/>
          <p:nvPr/>
        </p:nvSpPr>
        <p:spPr>
          <a:xfrm>
            <a:off x="6199632" y="3273552"/>
            <a:ext cx="5074920" cy="457200"/>
          </a:xfrm>
          <a:prstGeom prst="roundRect">
            <a:avLst/>
          </a:prstGeom>
          <a:solidFill>
            <a:srgbClr val="EFE9F9"/>
          </a:solidFill>
          <a:ln w="9525">
            <a:solidFill>
              <a:srgbClr val="60478F"/>
            </a:solidFill>
          </a:ln>
        </p:spPr>
        <p:txBody>
          <a:bodyPr wrap="square" anchor="ctr" lIns="73152" rIns="73152" tIns="73152" bIns="73152"/>
          <a:lstStyle/>
          <a:p>
            <a:pPr algn="l"/>
            <a:r>
              <a:rPr lang="en-US" sz="800">
                <a:solidFill>
                  <a:srgbClr val="222222"/>
                </a:solidFill>
              </a:rPr>
              <a:t>Toxicity control        hedge leakage + bad fills</a:t>
            </a:r>
          </a:p>
        </p:txBody>
      </p:sp>
      <p:sp>
        <p:nvSpPr>
          <p:cNvPr id="18" name="Shape 18"/>
          <p:cNvSpPr/>
          <p:nvPr/>
        </p:nvSpPr>
        <p:spPr>
          <a:xfrm>
            <a:off x="6199632" y="4572000"/>
            <a:ext cx="5074920" cy="658368"/>
          </a:xfrm>
          <a:prstGeom prst="roundRect">
            <a:avLst/>
          </a:prstGeom>
          <a:solidFill>
            <a:srgbClr val="E5F6ED"/>
          </a:solidFill>
          <a:ln w="9525">
            <a:solidFill>
              <a:srgbClr val="227C56"/>
            </a:solidFill>
          </a:ln>
        </p:spPr>
        <p:txBody>
          <a:bodyPr wrap="square" anchor="ctr" lIns="73152" rIns="73152" tIns="73152" bIns="73152"/>
          <a:lstStyle/>
          <a:p>
            <a:pPr algn="ctr"/>
            <a:r>
              <a:rPr lang="en-US" sz="850" b="1">
                <a:solidFill>
                  <a:srgbClr val="222222"/>
                </a:solidFill>
              </a:rPr>
              <a:t>Attribution ledger: slippage,</a:t>
            </a:r>
          </a:p>
          <a:p>
            <a:pPr algn="ctr"/>
            <a:r>
              <a:rPr lang="en-US" sz="850" b="1">
                <a:solidFill>
                  <a:srgbClr val="222222"/>
                </a:solidFill>
              </a:rPr>
              <a:t>impact, internalization uplift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8732520" y="2121408"/>
            <a:ext cx="9144" cy="2450592"/>
          </a:xfrm>
          <a:prstGeom prst="line">
            <a:avLst/>
          </a:prstGeom>
          <a:ln w="19050">
            <a:solidFill>
              <a:srgbClr val="5B5B5B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LOB Smart Execution">
  <a:themeElements>
    <a:clrScheme name="LOB">
      <a:dk1>
        <a:srgbClr val="222222"/>
      </a:dk1>
      <a:lt1>
        <a:srgbClr val="FFFFFF"/>
      </a:lt1>
      <a:dk2>
        <a:srgbClr val="5B5B5B"/>
      </a:dk2>
      <a:lt2>
        <a:srgbClr val="F7F7F7"/>
      </a:lt2>
      <a:accent1>
        <a:srgbClr val="F35D00"/>
      </a:accent1>
      <a:accent2>
        <a:srgbClr val="1C4C84"/>
      </a:accent2>
      <a:accent3>
        <a:srgbClr val="227C56"/>
      </a:accent3>
      <a:accent4>
        <a:srgbClr val="60478F"/>
      </a:accent4>
      <a:accent5>
        <a:srgbClr val="B84300"/>
      </a:accent5>
      <a:accent6>
        <a:srgbClr val="5B5B5B"/>
      </a:accent6>
      <a:hlink>
        <a:srgbClr val="1C4C84"/>
      </a:hlink>
      <a:folHlink>
        <a:srgbClr val="60478F"/>
      </a:folHlink>
    </a:clrScheme>
    <a:fontScheme name="Arial">
      <a:majorFont>
        <a:latin typeface="Arial"/>
      </a:majorFont>
      <a:minorFont>
        <a:latin typeface="Arial"/>
      </a:minorFont>
    </a:fontScheme>
    <a:fmtScheme name="LOB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stdlib PPTX builder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Liquidity-Aware Smart Execution</dc:title>
  <dc:creator>Yida Ding</dc:creator>
  <cp:lastModifiedBy>Yida Ding</cp:lastModifiedBy>
  <dcterms:created xsi:type="dcterms:W3CDTF">2026-06-04T13:55:07Z</dcterms:created>
  <dcterms:modified xsi:type="dcterms:W3CDTF">2026-06-04T13:55:07Z</dcterms:modified>
</cp:coreProperties>
</file>